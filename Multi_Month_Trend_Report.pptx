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Corneal Transplantation Quality Trends | Multi-Month Executive Report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Clinical Window: 1-Month Follow-Up Adherence &amp; Resurgeries strictly evaluated between 11 and 45 Days Post-Surgery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3-MONTH PRIMARY SURGERIES</a:t>
            </a:r>
          </a:p>
          <a:p>
            <a:pPr>
              <a:defRPr sz="2200" b="1">
                <a:solidFill>
                  <a:srgbClr val="1F4E78"/>
                </a:solidFill>
              </a:defRPr>
            </a:pPr>
            <a:r>
              <a:t>893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Across March 2026, April 2026, May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1M ADHERENCE RATE (11–45D)</a:t>
            </a:r>
          </a:p>
          <a:p>
            <a:pPr>
              <a:defRPr sz="2200" b="1">
                <a:solidFill>
                  <a:srgbClr val="27AE60"/>
                </a:solidFill>
              </a:defRPr>
            </a:pPr>
            <a:r>
              <a:t>89.59%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3-Month Pooled (Trend: +3.64%)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1M REPEAT SURGERY RATE</a:t>
            </a:r>
          </a:p>
          <a:p>
            <a:pPr>
              <a:defRPr sz="2200" b="1">
                <a:solidFill>
                  <a:srgbClr val="C0392B"/>
                </a:solidFill>
              </a:defRPr>
            </a:pPr>
            <a:r>
              <a:t>27 (3.02%)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REBUBBLING, RESUTURING, KP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0" y="1188720"/>
            <a:ext cx="25603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950" b="1">
                <a:solidFill>
                  <a:srgbClr val="646E78"/>
                </a:solidFill>
              </a:defRPr>
            </a:pPr>
            <a:r>
              <a:t>ALL RE-INTERVENTIONS</a:t>
            </a:r>
          </a:p>
          <a:p>
            <a:pPr>
              <a:defRPr sz="2200" b="1">
                <a:solidFill>
                  <a:srgbClr val="8E44AD"/>
                </a:solidFill>
              </a:defRPr>
            </a:pPr>
            <a:r>
              <a:t>161 (18.03%)</a:t>
            </a:r>
          </a:p>
          <a:p>
            <a:pPr>
              <a:defRPr sz="850">
                <a:solidFill>
                  <a:srgbClr val="78828C"/>
                </a:solidFill>
              </a:defRPr>
            </a:pPr>
            <a:r>
              <a:t>Includes Minor (Others)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0"/>
            <a:ext cx="110642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1-Month Follow-Up Adherence Rate by Campus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Evaluation Criteria: 1-Month Follow-Up &amp; Resurgeries strictly between 11 and 45 Days Post-Surgery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1-Month Follow-Up Adherence by Surgical Procedure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Evaluation Criteria: 1-Month Follow-Up &amp; Resurgeries strictly between 11 and 45 Days Post-Surgery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1-Month Graft Resurgery Rate by Campus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Graft-Specific Resurgeries: Rebubbling / Descematopexy, Wound Resuturing, and Repeat Keratoplasty (KP)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Repeat Surgery Breakdown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Real Repeat Surgeries (REBUBBLING, WOUND_RESUTURING, KP) vs. Others (Minor Procedures)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Graft Resurgery Rate by Primary Surgical Procedure (11–45 Days Post-Surgery)</a:t>
            </a:r>
          </a:p>
          <a:p>
            <a:pPr>
              <a:defRPr sz="1000" i="1">
                <a:solidFill>
                  <a:srgbClr val="D2E6FA"/>
                </a:solidFill>
              </a:defRPr>
            </a:pPr>
            <a:r>
              <a:t>Criteria: Summary Scorecard &amp; Surgical Procedure Risk Distribution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